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8">
  <p:sldMasterIdLst>
    <p:sldMasterId id="2147483676" r:id="rId4"/>
  </p:sldMasterIdLst>
  <p:notesMasterIdLst>
    <p:notesMasterId r:id="rId22"/>
  </p:notesMasterIdLst>
  <p:sldIdLst>
    <p:sldId id="256" r:id="rId5"/>
    <p:sldId id="594" r:id="rId6"/>
    <p:sldId id="602" r:id="rId7"/>
    <p:sldId id="609" r:id="rId8"/>
    <p:sldId id="595" r:id="rId9"/>
    <p:sldId id="603" r:id="rId10"/>
    <p:sldId id="597" r:id="rId11"/>
    <p:sldId id="604" r:id="rId12"/>
    <p:sldId id="598" r:id="rId13"/>
    <p:sldId id="605" r:id="rId14"/>
    <p:sldId id="599" r:id="rId15"/>
    <p:sldId id="606" r:id="rId16"/>
    <p:sldId id="600" r:id="rId17"/>
    <p:sldId id="607" r:id="rId18"/>
    <p:sldId id="601" r:id="rId19"/>
    <p:sldId id="608" r:id="rId20"/>
    <p:sldId id="348" r:id="rId21"/>
  </p:sldIdLst>
  <p:sldSz cx="9144000" cy="6858000" type="screen4x3"/>
  <p:notesSz cx="6858000" cy="9144000"/>
  <p:embeddedFontLst>
    <p:embeddedFont>
      <p:font typeface="Bebas Neue" panose="020B060402020202020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Franklin Gothic" panose="020B0604020202020204" charset="0"/>
      <p:regular r:id="rId28"/>
      <p:bold r:id="rId29"/>
      <p:italic r:id="rId30"/>
      <p:boldItalic r:id="rId31"/>
    </p:embeddedFont>
    <p:embeddedFont>
      <p:font typeface="Roboto Condensed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ctor Rodrigo Galaz Silva" initials="VRGS" lastIdx="1" clrIdx="0">
    <p:extLst>
      <p:ext uri="{19B8F6BF-5375-455C-9EA6-DF929625EA0E}">
        <p15:presenceInfo xmlns:p15="http://schemas.microsoft.com/office/powerpoint/2012/main" userId="Victor Rodrigo Galaz Sil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6" autoAdjust="0"/>
    <p:restoredTop sz="94608"/>
  </p:normalViewPr>
  <p:slideViewPr>
    <p:cSldViewPr snapToGrid="0" snapToObjects="1">
      <p:cViewPr varScale="1">
        <p:scale>
          <a:sx n="108" d="100"/>
          <a:sy n="108" d="100"/>
        </p:scale>
        <p:origin x="160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1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1447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63392f1e7f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63392f1e7f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9570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63392f1e7f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63392f1e7f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7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userDrawn="1">
  <p:cSld name="TITLE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-1" y="0"/>
            <a:ext cx="4629587" cy="6858000"/>
          </a:xfrm>
          <a:custGeom>
            <a:avLst/>
            <a:gdLst/>
            <a:ahLst/>
            <a:cxnLst/>
            <a:rect l="l" t="t" r="r" b="b"/>
            <a:pathLst>
              <a:path w="6172782" h="6858000" extrusionOk="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" y="11958"/>
            <a:ext cx="4518116" cy="6840855"/>
          </a:xfrm>
          <a:custGeom>
            <a:avLst/>
            <a:gdLst/>
            <a:ahLst/>
            <a:cxnLst/>
            <a:rect l="l" t="t" r="r" b="b"/>
            <a:pathLst>
              <a:path w="6024154" h="6858000" extrusionOk="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spcFirstLastPara="1" wrap="square" lIns="91425" tIns="0" rIns="182875" bIns="0" anchor="t" anchorCtr="0">
            <a:noAutofit/>
          </a:bodyPr>
          <a:lstStyle>
            <a:lvl1pPr lvl="0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2pPr>
            <a:lvl3pPr lvl="2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3pPr>
            <a:lvl4pPr lvl="3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4pPr>
            <a:lvl5pPr lvl="4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5pPr>
            <a:lvl6pPr lvl="5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6pPr>
            <a:lvl7pPr lvl="6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7pPr>
            <a:lvl8pPr lvl="7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8pPr>
            <a:lvl9pPr lvl="8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13;p2">
            <a:extLst>
              <a:ext uri="{FF2B5EF4-FFF2-40B4-BE49-F238E27FC236}">
                <a16:creationId xmlns:a16="http://schemas.microsoft.com/office/drawing/2014/main" id="{64854533-8DCC-1C49-8946-547AD8D47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6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>
            <a:endParaRPr lang="es-ES_tradnl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TITLE_4_1_1">
    <p:bg>
      <p:bgPr>
        <a:solidFill>
          <a:schemeClr val="dk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3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9" name="Google Shape;19;p3"/>
            <p:cNvSpPr/>
            <p:nvPr/>
          </p:nvSpPr>
          <p:spPr>
            <a:xfrm rot="10800000" flipH="1">
              <a:off x="0" y="-126"/>
              <a:ext cx="4554438" cy="5386482"/>
            </a:xfrm>
            <a:custGeom>
              <a:avLst/>
              <a:gdLst/>
              <a:ahLst/>
              <a:cxnLst/>
              <a:rect l="l" t="t" r="r" b="b"/>
              <a:pathLst>
                <a:path w="5389868" h="6374535" extrusionOk="0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" name="Google Shape;20;p3" descr="Una caricatura de una ciudad&#10;&#10;Descripción generada automáticamente"/>
            <p:cNvPicPr preferRelativeResize="0"/>
            <p:nvPr/>
          </p:nvPicPr>
          <p:blipFill rotWithShape="1">
            <a:blip r:embed="rId3">
              <a:alphaModFix/>
            </a:blip>
            <a:srcRect l="9870" r="6482"/>
            <a:stretch/>
          </p:blipFill>
          <p:spPr>
            <a:xfrm>
              <a:off x="1" y="-1"/>
              <a:ext cx="4423169" cy="5247982"/>
            </a:xfrm>
            <a:custGeom>
              <a:avLst/>
              <a:gdLst/>
              <a:ahLst/>
              <a:cxnLst/>
              <a:rect l="l" t="t" r="r" b="b"/>
              <a:pathLst>
                <a:path w="5234519" h="6210629" extrusionOk="0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29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5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5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5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5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5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5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5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5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5400"/>
            </a:lvl9pPr>
          </a:lstStyle>
          <a:p>
            <a:endParaRPr lang="es-ES_tradnl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preserve="1">
  <p:cSld name="Título y objetos 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ebas Neue" panose="020B0606020202050201" pitchFamily="34" charset="77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rgbClr val="818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ES_tradnl" noProof="0" dirty="0"/>
          </a:p>
        </p:txBody>
      </p:sp>
      <p:pic>
        <p:nvPicPr>
          <p:cNvPr id="89" name="Google Shape;8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lang="es-ES_tradnl" noProof="0" dirty="0"/>
          </a:p>
        </p:txBody>
      </p:sp>
      <p:sp>
        <p:nvSpPr>
          <p:cNvPr id="9" name="Google Shape;7;p1">
            <a:extLst>
              <a:ext uri="{FF2B5EF4-FFF2-40B4-BE49-F238E27FC236}">
                <a16:creationId xmlns:a16="http://schemas.microsoft.com/office/drawing/2014/main" id="{0B5789D4-A1BB-0442-8135-68C7C82B7CE3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9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3" userDrawn="1">
  <p:cSld name="OBJECT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rgbClr val="7027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lang="es-ES_tradnl" noProof="0" dirty="0"/>
          </a:p>
        </p:txBody>
      </p:sp>
      <p:sp>
        <p:nvSpPr>
          <p:cNvPr id="9" name="Google Shape;84;p14">
            <a:extLst>
              <a:ext uri="{FF2B5EF4-FFF2-40B4-BE49-F238E27FC236}">
                <a16:creationId xmlns:a16="http://schemas.microsoft.com/office/drawing/2014/main" id="{BB89A5F1-01F7-AA47-B434-101A27DE7BC0}"/>
              </a:ext>
            </a:extLst>
          </p:cNvPr>
          <p:cNvSpPr/>
          <p:nvPr userDrawn="1"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ebas Neue" panose="020B0606020202050201" pitchFamily="34" charset="77"/>
            </a:endParaRPr>
          </a:p>
        </p:txBody>
      </p:sp>
      <p:sp>
        <p:nvSpPr>
          <p:cNvPr id="10" name="Google Shape;87;p14">
            <a:extLst>
              <a:ext uri="{FF2B5EF4-FFF2-40B4-BE49-F238E27FC236}">
                <a16:creationId xmlns:a16="http://schemas.microsoft.com/office/drawing/2014/main" id="{8DC17925-3C94-8F46-871B-B63E680B4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ES_tradnl" noProof="0" dirty="0"/>
          </a:p>
        </p:txBody>
      </p:sp>
      <p:sp>
        <p:nvSpPr>
          <p:cNvPr id="11" name="Google Shape;7;p1">
            <a:extLst>
              <a:ext uri="{FF2B5EF4-FFF2-40B4-BE49-F238E27FC236}">
                <a16:creationId xmlns:a16="http://schemas.microsoft.com/office/drawing/2014/main" id="{3C188FE6-8EF7-F044-9027-21CDC308C75A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7D9485-9D22-5647-86A2-61337F2EBD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</p:spPr>
        <p:txBody>
          <a:bodyPr anchor="ctr"/>
          <a:lstStyle>
            <a:lvl1pPr marL="50800" indent="0" algn="ctr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s-ES_tradnl" dirty="0"/>
          </a:p>
        </p:txBody>
      </p:sp>
      <p:pic>
        <p:nvPicPr>
          <p:cNvPr id="6" name="Google Shape;12;p2">
            <a:extLst>
              <a:ext uri="{FF2B5EF4-FFF2-40B4-BE49-F238E27FC236}">
                <a16:creationId xmlns:a16="http://schemas.microsoft.com/office/drawing/2014/main" id="{0D343A73-BC54-BF4C-A259-A0C913A07BC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2F63D34-FBAE-5442-A997-D0933D828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50800" indent="0" algn="ctr">
              <a:buNone/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s-ES_tradnl" dirty="0"/>
          </a:p>
        </p:txBody>
      </p:sp>
      <p:sp>
        <p:nvSpPr>
          <p:cNvPr id="11" name="Google Shape;165;p24">
            <a:extLst>
              <a:ext uri="{FF2B5EF4-FFF2-40B4-BE49-F238E27FC236}">
                <a16:creationId xmlns:a16="http://schemas.microsoft.com/office/drawing/2014/main" id="{ED241A5B-D2F8-1D45-8F9D-D1D4B48E7814}"/>
              </a:ext>
            </a:extLst>
          </p:cNvPr>
          <p:cNvSpPr/>
          <p:nvPr userDrawn="1"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66;p24">
            <a:extLst>
              <a:ext uri="{FF2B5EF4-FFF2-40B4-BE49-F238E27FC236}">
                <a16:creationId xmlns:a16="http://schemas.microsoft.com/office/drawing/2014/main" id="{990F690A-789C-6740-B34D-11153A9BBDDB}"/>
              </a:ext>
            </a:extLst>
          </p:cNvPr>
          <p:cNvSpPr/>
          <p:nvPr userDrawn="1"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chemeClr val="bg2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4;p14">
            <a:extLst>
              <a:ext uri="{FF2B5EF4-FFF2-40B4-BE49-F238E27FC236}">
                <a16:creationId xmlns:a16="http://schemas.microsoft.com/office/drawing/2014/main" id="{7FF938C0-C0B1-8543-A7DC-F3B0AA5BE94F}"/>
              </a:ext>
            </a:extLst>
          </p:cNvPr>
          <p:cNvSpPr/>
          <p:nvPr userDrawn="1"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latin typeface="Bebas Neue" panose="020B0606020202050201" pitchFamily="34" charset="77"/>
            </a:endParaRPr>
          </a:p>
        </p:txBody>
      </p:sp>
      <p:sp>
        <p:nvSpPr>
          <p:cNvPr id="15" name="Google Shape;87;p14">
            <a:extLst>
              <a:ext uri="{FF2B5EF4-FFF2-40B4-BE49-F238E27FC236}">
                <a16:creationId xmlns:a16="http://schemas.microsoft.com/office/drawing/2014/main" id="{D9228F07-B61E-0645-862B-247F10F5B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945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 preserve="1">
  <p:cSld name="1_En blanco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;p1">
            <a:extLst>
              <a:ext uri="{FF2B5EF4-FFF2-40B4-BE49-F238E27FC236}">
                <a16:creationId xmlns:a16="http://schemas.microsoft.com/office/drawing/2014/main" id="{FCAE1A83-104E-8B4E-949F-BE3A9ADE6BA0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1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LOGO-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60483" y="6287016"/>
            <a:ext cx="1687458" cy="377364"/>
          </a:xfrm>
          <a:prstGeom prst="rect">
            <a:avLst/>
          </a:prstGeom>
        </p:spPr>
      </p:pic>
      <p:sp>
        <p:nvSpPr>
          <p:cNvPr id="5" name="Rectángulo 4"/>
          <p:cNvSpPr/>
          <p:nvPr userDrawn="1"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8"/>
          <p:cNvSpPr/>
          <p:nvPr userDrawn="1"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/>
          <p:cNvSpPr/>
          <p:nvPr userDrawn="1"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/>
          <p:cNvSpPr/>
          <p:nvPr userDrawn="1"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/>
          <p:cNvSpPr/>
          <p:nvPr userDrawn="1"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3" name="Imagen 12" descr="logo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828" y="6225296"/>
            <a:ext cx="1992643" cy="446269"/>
          </a:xfrm>
          <a:prstGeom prst="rect">
            <a:avLst/>
          </a:prstGeom>
        </p:spPr>
      </p:pic>
      <p:sp>
        <p:nvSpPr>
          <p:cNvPr id="15" name="Marcador de text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53533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Calibri" panose="020F0502020204030204" pitchFamily="34" charset="0"/>
                <a:ea typeface="Roboto Mono"/>
                <a:cs typeface="Calibri" panose="020F0502020204030204" pitchFamily="34" charset="0"/>
                <a:sym typeface="Roboto Mon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 lang="es-CL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79" r:id="rId3"/>
    <p:sldLayoutId id="2147483662" r:id="rId4"/>
    <p:sldLayoutId id="2147483678" r:id="rId5"/>
    <p:sldLayoutId id="2147483677" r:id="rId6"/>
    <p:sldLayoutId id="214748369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Roboto" panose="02000000000000000000" pitchFamily="2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>
            <a:spLocks noGrp="1"/>
          </p:cNvSpPr>
          <p:nvPr>
            <p:ph type="title"/>
          </p:nvPr>
        </p:nvSpPr>
        <p:spPr>
          <a:xfrm>
            <a:off x="4148520" y="3966900"/>
            <a:ext cx="4894800" cy="2891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Fase1 Proyecto APT</a:t>
            </a:r>
            <a:br>
              <a:rPr lang="en-US" sz="4000" dirty="0"/>
            </a:br>
            <a:br>
              <a:rPr lang="en-US" sz="4000" dirty="0"/>
            </a:br>
            <a:br>
              <a:rPr lang="en-US" sz="2000" dirty="0"/>
            </a:br>
            <a:r>
              <a:rPr lang="en-US" sz="2000" b="1" dirty="0" err="1"/>
              <a:t>Docente:</a:t>
            </a:r>
            <a:r>
              <a:rPr lang="en-US" sz="2000" dirty="0" err="1"/>
              <a:t>Reginaldo</a:t>
            </a:r>
            <a:r>
              <a:rPr lang="en-US" sz="2000" dirty="0"/>
              <a:t> Salinas Bruna</a:t>
            </a:r>
            <a:br>
              <a:rPr lang="en-US" sz="2000" dirty="0"/>
            </a:br>
            <a:r>
              <a:rPr lang="en-US" sz="2000" dirty="0"/>
              <a:t>Grupo Nº:</a:t>
            </a:r>
            <a:br>
              <a:rPr lang="en-US" sz="2000" dirty="0"/>
            </a:br>
            <a:r>
              <a:rPr lang="en-US" sz="2000" dirty="0" err="1"/>
              <a:t>Integrantes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Diego Delgado Unquen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breve del proyecto APT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F1B2-8AEA-0072-37AD-ACAEE897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ED88-848F-5146-1440-D2E9D012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Descripción del proyecto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409045-6D33-4267-8305-4E22517EE5B5}"/>
              </a:ext>
            </a:extLst>
          </p:cNvPr>
          <p:cNvSpPr txBox="1"/>
          <p:nvPr/>
        </p:nvSpPr>
        <p:spPr>
          <a:xfrm>
            <a:off x="328474" y="1553592"/>
            <a:ext cx="8353887" cy="426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pPr algn="l"/>
            <a:r>
              <a:rPr lang="es-MX" sz="1800" dirty="0"/>
              <a:t>El sistema consiste en una plataforma web e-</a:t>
            </a:r>
            <a:r>
              <a:rPr lang="es-MX" sz="1800" dirty="0" err="1"/>
              <a:t>commerce</a:t>
            </a:r>
            <a:r>
              <a:rPr lang="es-MX" sz="1800" dirty="0"/>
              <a:t> diseñada específicamente para una </a:t>
            </a:r>
            <a:r>
              <a:rPr lang="es-MX" sz="1800" dirty="0" err="1"/>
              <a:t>PyME</a:t>
            </a:r>
            <a:r>
              <a:rPr lang="es-MX" sz="1800" dirty="0"/>
              <a:t> dedicada al diseño e impresión 3D de productos de videojuegos y cultura </a:t>
            </a:r>
            <a:r>
              <a:rPr lang="es-MX" sz="1800" dirty="0" err="1"/>
              <a:t>geek</a:t>
            </a:r>
            <a:r>
              <a:rPr lang="es-MX" sz="1800" dirty="0"/>
              <a:t>. La solución integrará una tienda en línea orientada tanto a venta al detalle, acompañada de un módulo interactivo para publicar las fechas y ubicaciones de sus participaciones en eventos físicos en modo administrador</a:t>
            </a:r>
          </a:p>
          <a:p>
            <a:pPr algn="l"/>
            <a:endParaRPr lang="es-MX" sz="1800" dirty="0"/>
          </a:p>
          <a:p>
            <a:pPr algn="l"/>
            <a:r>
              <a:rPr lang="es-MX" sz="1800" dirty="0"/>
              <a:t>Su propósito principal es eliminar la dependencia exclusiva de las ferias presenciales, permitiendo al negocio continuar sus ventas de forma ininterrumpida durante los meses de otoño e invierno cuando los eventos se cancelan por mal tiempo, con esto, la plataforma busca diversificar los ingresos, abrir un canal directo para revendedores de volumen y consolidar la comunidad de clientes presenciales en el entorno digital.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04154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23B25-8508-40C7-B7DD-A0516D49F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EVIDENCIA DEL EMPRENDIMIENTO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1FBA5D-18ED-4AE4-97C2-0F30C554A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528955-609C-4AA6-B3CE-A581D3BC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71" y="2379215"/>
            <a:ext cx="2815656" cy="28064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473825-8DDC-44C0-8776-54C378D7D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35" y="2369087"/>
            <a:ext cx="2819648" cy="281657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EA7AEA7-444A-4A24-A8EC-9D5E0CA4A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192" y="2379215"/>
            <a:ext cx="2408937" cy="300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con el perfil de egreso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9CEA-F134-BD2A-3152-20506213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CA5D0-6CAE-F8B8-33DC-9A83474E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Relación con Perfil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0C4586-3A86-4B28-840D-EB268AA6E0CB}"/>
              </a:ext>
            </a:extLst>
          </p:cNvPr>
          <p:cNvSpPr txBox="1"/>
          <p:nvPr/>
        </p:nvSpPr>
        <p:spPr>
          <a:xfrm>
            <a:off x="177554" y="1837677"/>
            <a:ext cx="8353887" cy="426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pPr algn="l"/>
            <a:r>
              <a:rPr lang="es-MX" sz="1800" dirty="0"/>
              <a:t>Desarrollo Full </a:t>
            </a:r>
            <a:r>
              <a:rPr lang="es-MX" sz="1800" dirty="0" err="1"/>
              <a:t>Stack</a:t>
            </a:r>
            <a:r>
              <a:rPr lang="es-MX" sz="1800" dirty="0"/>
              <a:t> e Integración Web:</a:t>
            </a:r>
          </a:p>
          <a:p>
            <a:pPr algn="l"/>
            <a:endParaRPr lang="es-MX" sz="1800" dirty="0"/>
          </a:p>
          <a:p>
            <a:pPr algn="l"/>
            <a:endParaRPr lang="es-MX" sz="1800" dirty="0"/>
          </a:p>
          <a:p>
            <a:pPr algn="l"/>
            <a:r>
              <a:rPr lang="es-MX" sz="1800" dirty="0"/>
              <a:t>Gestión de Base de Datos y Persistencia:</a:t>
            </a:r>
          </a:p>
          <a:p>
            <a:pPr algn="l"/>
            <a:endParaRPr lang="es-MX" sz="1800" dirty="0"/>
          </a:p>
          <a:p>
            <a:pPr algn="l"/>
            <a:endParaRPr lang="es-MX" sz="1800" dirty="0"/>
          </a:p>
          <a:p>
            <a:pPr algn="l"/>
            <a:r>
              <a:rPr lang="es-MX" sz="1800" dirty="0"/>
              <a:t>Diseño de Experiencia e Interfaz de Usuario (UI/UX):</a:t>
            </a:r>
          </a:p>
          <a:p>
            <a:pPr algn="l"/>
            <a:endParaRPr lang="es-MX" sz="1800" dirty="0"/>
          </a:p>
          <a:p>
            <a:pPr algn="l"/>
            <a:endParaRPr lang="es-MX" sz="1800" dirty="0"/>
          </a:p>
          <a:p>
            <a:pPr algn="l"/>
            <a:r>
              <a:rPr lang="es-MX" sz="1800" dirty="0"/>
              <a:t>Gestión de Proyectos de Software: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76760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Factibilidad del proyecto en la asignatura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7FB7-18F0-BCA1-889A-E32BD627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B51FF-13C5-DC65-9206-8940276D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Factibilidad del Proyecto</a:t>
            </a:r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E9AD82B-488A-4376-B7D4-EE0DCA1F482E}"/>
              </a:ext>
            </a:extLst>
          </p:cNvPr>
          <p:cNvSpPr txBox="1"/>
          <p:nvPr/>
        </p:nvSpPr>
        <p:spPr>
          <a:xfrm>
            <a:off x="328474" y="1624614"/>
            <a:ext cx="6649375" cy="378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pPr algn="l"/>
            <a:endParaRPr lang="es-CL" sz="2400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7C674AD5-6B13-4221-ACF3-7C531994D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62" y="1451499"/>
            <a:ext cx="8208887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Temporal / Metodológica: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Cobertura adecuada de las 18 semanas de la asignatura mediante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Sprints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 2 semanas.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Recursos Técnicos ($0 costo adicional):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-Hardware: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Equipo de cómputo personal para entornos locales.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-Software / Herramientas: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Visual Studio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Code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Git/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GitHub,Photoshop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Node.js/Python y MySQL/MongoDB.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Factores Facilitadores: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CL" altLang="es-CL" sz="1800" b="1" dirty="0">
                <a:solidFill>
                  <a:schemeClr val="tx1"/>
                </a:solidFill>
                <a:latin typeface="Google Sans Text"/>
              </a:rPr>
              <a:t>-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Acceso a información real de la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PyME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y amplia documentación técnica open-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source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Mitigación de Riesgos: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-Disponibilidad de la </a:t>
            </a:r>
            <a:r>
              <a:rPr kumimoji="0" lang="es-CL" altLang="es-C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PyME</a:t>
            </a: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Reuniones asíncronas breves (15 min) y datos de prueba (</a:t>
            </a: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</a:t>
            </a:r>
            <a:r>
              <a:rPr kumimoji="0" lang="es-CL" altLang="es-C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dummy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-Arranque en frío del algoritmo: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Filtrado inicial basado en contenido/franquicias.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995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proyecto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E7B6B-28F5-B540-BEFD-2002DC1D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CE32D-9E2F-1645-1A2B-7626976F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Objetivos del Proyecto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5712C6A-9E3F-4F32-A6A3-161EC85C67EB}"/>
              </a:ext>
            </a:extLst>
          </p:cNvPr>
          <p:cNvSpPr txBox="1"/>
          <p:nvPr/>
        </p:nvSpPr>
        <p:spPr>
          <a:xfrm>
            <a:off x="332912" y="1580225"/>
            <a:ext cx="8478175" cy="4900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r>
              <a:rPr lang="es-C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1-Relevar y formalizar los requerimientos funcionales y no funcionales del negocio para la venta en línea y la gestión de eventos.</a:t>
            </a:r>
          </a:p>
          <a:p>
            <a:endParaRPr lang="es-C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2-Diseñar el modelo de datos relacional/no </a:t>
            </a:r>
            <a:r>
              <a:rPr lang="es-CL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relacional</a:t>
            </a:r>
            <a:r>
              <a:rPr lang="es-C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y la arquitectura web de la plataforma e-</a:t>
            </a:r>
            <a:r>
              <a:rPr lang="es-CL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commerce</a:t>
            </a:r>
            <a:r>
              <a:rPr lang="es-C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  <a:p>
            <a:endParaRPr lang="es-C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3-Programar el módulo cliente para el catálogo de productos (al detalle y al por mayor), carrito de compras y visualización del calendario de eventos presenciales.</a:t>
            </a:r>
          </a:p>
          <a:p>
            <a:endParaRPr lang="es-C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4-Programar el panel de administración (</a:t>
            </a:r>
            <a:r>
              <a:rPr lang="es-CL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Backoffice</a:t>
            </a:r>
            <a:r>
              <a:rPr lang="es-C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 para la gestión del inventario, pedidos y publicación de fechas/ubicaciones de ferias físicas.</a:t>
            </a:r>
          </a:p>
          <a:p>
            <a:endParaRPr lang="es-C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5-Realizar las pruebas integrales de funcionamiento, usabilidad y persistencia de datos del sistema.</a:t>
            </a:r>
            <a:endParaRPr lang="es-C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/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227951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de trabajo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F384-E74D-7BCF-FC67-9629BFB08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44457-E22B-0DF2-2122-D86C317C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Metodologías del Proyecto SCRUM</a:t>
            </a:r>
            <a:endParaRPr lang="es-CL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A3D9648-ED99-48F8-A8B0-310A96F9E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843" y="2182505"/>
            <a:ext cx="7785716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Owner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Define las prioridades y representa las necesidades del cliente.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Scrum Master: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Facilita el proceso y elimina los bloqueos del equipo.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Equipo de Desarrollo: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Ejecuta el trabajo y construye el producto.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Sprint: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Ciclo de trabajo de una a cuatro semanas.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Eventos: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Incluyen la planificación, la reunión diaria, la revisión y la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2729479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trabajo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663A-9130-DA47-993C-2C2F8DDF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F9AAD-1C50-7E68-92BC-05A61F9F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Plan del Proyecto</a:t>
            </a:r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1471A6-8652-4386-A914-F8AA63B647DE}"/>
              </a:ext>
            </a:extLst>
          </p:cNvPr>
          <p:cNvSpPr txBox="1"/>
          <p:nvPr/>
        </p:nvSpPr>
        <p:spPr>
          <a:xfrm>
            <a:off x="985422" y="4607510"/>
            <a:ext cx="5734975" cy="163349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Autofit/>
          </a:bodyPr>
          <a:lstStyle/>
          <a:p>
            <a:pPr algn="l"/>
            <a:r>
              <a:rPr lang="es-CL" sz="1800" b="1" dirty="0"/>
              <a:t>S3-S4:      </a:t>
            </a:r>
            <a:r>
              <a:rPr lang="es-CL" sz="1800" dirty="0"/>
              <a:t>Análisis, Requerimientos y Diseño</a:t>
            </a:r>
          </a:p>
          <a:p>
            <a:pPr algn="l"/>
            <a:r>
              <a:rPr lang="es-CL" sz="1800" b="1" dirty="0"/>
              <a:t>S5-S13:    </a:t>
            </a:r>
            <a:r>
              <a:rPr lang="en-US" sz="1800" dirty="0"/>
              <a:t>Desarrollo Full-Stack (Backend, Frontend y Backoffice)</a:t>
            </a:r>
            <a:endParaRPr lang="es-CL" sz="1800" dirty="0"/>
          </a:p>
          <a:p>
            <a:pPr algn="l"/>
            <a:r>
              <a:rPr lang="es-CL" sz="1800" b="1" dirty="0"/>
              <a:t>S14 -S16: </a:t>
            </a:r>
            <a:r>
              <a:rPr lang="es-MX" sz="1800" dirty="0"/>
              <a:t>Integración de Algoritmo y Pruebas QA</a:t>
            </a:r>
            <a:endParaRPr lang="es-CL" sz="1800" dirty="0"/>
          </a:p>
          <a:p>
            <a:pPr algn="l"/>
            <a:r>
              <a:rPr lang="es-CL" sz="1800" b="1" dirty="0"/>
              <a:t>S17 -S18: </a:t>
            </a:r>
            <a:r>
              <a:rPr lang="es-CL" sz="1800" dirty="0"/>
              <a:t>Cierre, Despliegue e Informe Final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EF33B18-364E-44B2-B5DD-0972DE2A1F37}"/>
              </a:ext>
            </a:extLst>
          </p:cNvPr>
          <p:cNvSpPr txBox="1"/>
          <p:nvPr/>
        </p:nvSpPr>
        <p:spPr>
          <a:xfrm>
            <a:off x="985422" y="1714980"/>
            <a:ext cx="3586578" cy="237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pPr algn="l"/>
            <a:r>
              <a:rPr lang="es-MX" b="1" dirty="0"/>
              <a:t>Fase 1:</a:t>
            </a:r>
          </a:p>
          <a:p>
            <a:pPr algn="l"/>
            <a:r>
              <a:rPr lang="es-MX" b="1" dirty="0"/>
              <a:t>Definición y Análisis</a:t>
            </a:r>
          </a:p>
          <a:p>
            <a:pPr algn="l"/>
            <a:endParaRPr lang="es-MX" b="1" dirty="0"/>
          </a:p>
          <a:p>
            <a:pPr algn="l"/>
            <a:endParaRPr lang="es-MX" b="1" dirty="0"/>
          </a:p>
          <a:p>
            <a:pPr algn="l"/>
            <a:r>
              <a:rPr lang="es-MX" b="1" dirty="0"/>
              <a:t>Fase 2:</a:t>
            </a:r>
          </a:p>
          <a:p>
            <a:pPr algn="l"/>
            <a:r>
              <a:rPr lang="es-MX" b="1" dirty="0"/>
              <a:t>Desarrollo e Integración</a:t>
            </a:r>
          </a:p>
          <a:p>
            <a:pPr algn="l"/>
            <a:endParaRPr lang="es-MX" b="1" dirty="0"/>
          </a:p>
          <a:p>
            <a:pPr algn="l"/>
            <a:endParaRPr lang="es-MX" b="1" dirty="0"/>
          </a:p>
          <a:p>
            <a:pPr algn="l"/>
            <a:r>
              <a:rPr lang="es-MX" b="1" dirty="0"/>
              <a:t>Fase 3:</a:t>
            </a:r>
          </a:p>
          <a:p>
            <a:pPr algn="l"/>
            <a:r>
              <a:rPr lang="es-MX" b="1" dirty="0"/>
              <a:t>Pruebas y Cierre</a:t>
            </a:r>
          </a:p>
          <a:p>
            <a:pPr algn="l"/>
            <a:endParaRPr lang="es-CL" sz="16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2F5B0DF-5B6F-4F61-A490-4CB5ACC69F3C}"/>
              </a:ext>
            </a:extLst>
          </p:cNvPr>
          <p:cNvSpPr txBox="1"/>
          <p:nvPr/>
        </p:nvSpPr>
        <p:spPr>
          <a:xfrm>
            <a:off x="3259857" y="1639633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MX" dirty="0"/>
              <a:t>Levantamiento de requerimientos, diseño de arquitectura web/BD y prototipos UI </a:t>
            </a:r>
            <a:endParaRPr lang="es-CL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C68A32E-622C-4B30-B9CA-A824F4B6DAEB}"/>
              </a:ext>
            </a:extLst>
          </p:cNvPr>
          <p:cNvSpPr txBox="1"/>
          <p:nvPr/>
        </p:nvSpPr>
        <p:spPr>
          <a:xfrm>
            <a:off x="3259857" y="2638539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MX" dirty="0"/>
              <a:t>Configuración del </a:t>
            </a:r>
            <a:r>
              <a:rPr lang="es-MX" dirty="0" err="1"/>
              <a:t>Backend</a:t>
            </a:r>
            <a:r>
              <a:rPr lang="es-MX" dirty="0"/>
              <a:t>, API REST, CRUD de catálogo/eventos y desarrollo del </a:t>
            </a:r>
            <a:r>
              <a:rPr lang="es-MX" dirty="0" err="1"/>
              <a:t>Frontend</a:t>
            </a:r>
            <a:r>
              <a:rPr lang="es-MX" dirty="0"/>
              <a:t>.</a:t>
            </a:r>
            <a:endParaRPr lang="es-CL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1E23CF5-1200-43E9-B39F-43E15940F165}"/>
              </a:ext>
            </a:extLst>
          </p:cNvPr>
          <p:cNvSpPr txBox="1"/>
          <p:nvPr/>
        </p:nvSpPr>
        <p:spPr>
          <a:xfrm>
            <a:off x="3259857" y="3460230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MX" dirty="0"/>
              <a:t>Algoritmo de recomendación por franquicia, pruebas QA (unitarias/UI) y despliegue final.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07415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Evidencias esperadas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E51AD-221F-68E5-91D7-21E995D3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Evidencias Esperadas del Proyecto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A40A8E-9111-4BBD-BB53-7B500DF2A35B}"/>
              </a:ext>
            </a:extLst>
          </p:cNvPr>
          <p:cNvSpPr txBox="1"/>
          <p:nvPr/>
        </p:nvSpPr>
        <p:spPr>
          <a:xfrm>
            <a:off x="448322" y="3034195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CL" dirty="0"/>
              <a:t>Avance - Fase 2 (Semanas 5 a 12)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D81193-DDF6-4A19-9EE0-E9AE82B9B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014" y="3126528"/>
            <a:ext cx="5477700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Entregable:</a:t>
            </a: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Prototipo Funcional / Avance de Software.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Contenido: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-Repositorio de código fuente en GitHub.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-Base de datos desplegada con operaciones CRUD completas (Gestión de productos y calendario de eventos presenciales).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-Maquetado funcional del </a:t>
            </a:r>
            <a:r>
              <a:rPr kumimoji="0" lang="es-CL" altLang="es-CL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Frontend</a:t>
            </a: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para la tienda.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BE043FB-BA20-491F-A744-740788459DEF}"/>
              </a:ext>
            </a:extLst>
          </p:cNvPr>
          <p:cNvSpPr txBox="1"/>
          <p:nvPr/>
        </p:nvSpPr>
        <p:spPr>
          <a:xfrm>
            <a:off x="448322" y="1361800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CL" dirty="0"/>
              <a:t>Avance - Fase 1 (Semanas 1 a 4)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68CD899-DCA5-4455-8820-3A0121BD34AA}"/>
              </a:ext>
            </a:extLst>
          </p:cNvPr>
          <p:cNvSpPr txBox="1"/>
          <p:nvPr/>
        </p:nvSpPr>
        <p:spPr>
          <a:xfrm>
            <a:off x="448322" y="4839801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CL" dirty="0"/>
              <a:t>Final - Fase 3 (Semanas 13 a 18)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D5384A9-443D-4C5F-A7D1-84F39A9EB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014" y="1454133"/>
            <a:ext cx="5338409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Entregable:</a:t>
            </a: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Prototipo Funcional / Avance de Software.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Contenido: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Repositorio de código fuente en GitHub.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 de datos desplegada con operaciones CRUD completas (Gestión de productos y calendario de eventos presenciales).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Maquetado funcional del </a:t>
            </a:r>
            <a:r>
              <a:rPr kumimoji="0" lang="es-CL" altLang="es-CL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Frontend</a:t>
            </a: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para la tienda.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227B5FB-960E-4952-B169-438F5BCDD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014" y="4892981"/>
            <a:ext cx="5642026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Entregable:</a:t>
            </a: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Sistema E-Commerce Completo e Informe Final con Pruebas.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Contenido: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-Plataforma web 100% funcional y desplegada (Catálogo al detalle, módulo mayorista, calendario de eventos y motor de recomendación por franquicias).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-Reporte de pruebas de software y calidad (QA / Pruebas unitarias e integrales).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-Informe final de cierre del proyecto APT.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Propósito:</a:t>
            </a: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Demostrar la solución integral al problema de la </a:t>
            </a:r>
            <a:r>
              <a:rPr kumimoji="0" lang="es-CL" altLang="es-CL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PyME</a:t>
            </a: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y el cumplimiento de las competencias del perfil de egreso.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>
            <a:spLocks noGrp="1"/>
          </p:cNvSpPr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 err="1"/>
              <a:t>Preguntas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799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2f9391-964b-48b6-b3b0-13a7ac8a75d6" xsi:nil="true"/>
    <lcf76f155ced4ddcb4097134ff3c332f xmlns="c2ef7064-63f7-4dcd-87f2-3580cf294d1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490DE1D59CF8418FDA5A26334C9654" ma:contentTypeVersion="13" ma:contentTypeDescription="Crear nuevo documento." ma:contentTypeScope="" ma:versionID="0947c955fb93921eafb35975722a95d7">
  <xsd:schema xmlns:xsd="http://www.w3.org/2001/XMLSchema" xmlns:xs="http://www.w3.org/2001/XMLSchema" xmlns:p="http://schemas.microsoft.com/office/2006/metadata/properties" xmlns:ns2="c2ef7064-63f7-4dcd-87f2-3580cf294d1c" xmlns:ns3="322f9391-964b-48b6-b3b0-13a7ac8a75d6" targetNamespace="http://schemas.microsoft.com/office/2006/metadata/properties" ma:root="true" ma:fieldsID="7a1f18c72603c702d1675a48c9701c9d" ns2:_="" ns3:_="">
    <xsd:import namespace="c2ef7064-63f7-4dcd-87f2-3580cf294d1c"/>
    <xsd:import namespace="322f9391-964b-48b6-b3b0-13a7ac8a75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ef7064-63f7-4dcd-87f2-3580cf294d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2f9391-964b-48b6-b3b0-13a7ac8a75d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117467f-38fe-41e0-8cfe-bab1e1047489}" ma:internalName="TaxCatchAll" ma:showField="CatchAllData" ma:web="322f9391-964b-48b6-b3b0-13a7ac8a75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B9B302-04BE-4B27-B4FA-2CC6AEBC618B}">
  <ds:schemaRefs>
    <ds:schemaRef ds:uri="http://schemas.microsoft.com/office/2006/metadata/properties"/>
    <ds:schemaRef ds:uri="http://schemas.microsoft.com/office/infopath/2007/PartnerControls"/>
    <ds:schemaRef ds:uri="322f9391-964b-48b6-b3b0-13a7ac8a75d6"/>
    <ds:schemaRef ds:uri="c2ef7064-63f7-4dcd-87f2-3580cf294d1c"/>
  </ds:schemaRefs>
</ds:datastoreItem>
</file>

<file path=customXml/itemProps2.xml><?xml version="1.0" encoding="utf-8"?>
<ds:datastoreItem xmlns:ds="http://schemas.openxmlformats.org/officeDocument/2006/customXml" ds:itemID="{6512106B-37BE-4C1E-AB26-C55B17FF37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ef7064-63f7-4dcd-87f2-3580cf294d1c"/>
    <ds:schemaRef ds:uri="322f9391-964b-48b6-b3b0-13a7ac8a75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85E63E6-39DE-4245-B876-44236A6402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5999</TotalTime>
  <Words>844</Words>
  <Application>Microsoft Office PowerPoint</Application>
  <PresentationFormat>Presentación en pantalla (4:3)</PresentationFormat>
  <Paragraphs>98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Roboto Condensed</vt:lpstr>
      <vt:lpstr>Franklin Gothic</vt:lpstr>
      <vt:lpstr>Google Sans Text</vt:lpstr>
      <vt:lpstr>Roboto Mono</vt:lpstr>
      <vt:lpstr>Arial</vt:lpstr>
      <vt:lpstr>Calibri</vt:lpstr>
      <vt:lpstr>Bebas Neue</vt:lpstr>
      <vt:lpstr>Times New Roman</vt:lpstr>
      <vt:lpstr>Tema de Office</vt:lpstr>
      <vt:lpstr>  Fase1 Proyecto APT   Docente:Reginaldo Salinas Bruna Grupo Nº: Integrantes: Diego Delgado Unquen</vt:lpstr>
      <vt:lpstr>Descripción breve del proyecto APT</vt:lpstr>
      <vt:lpstr>Descripción del proyecto</vt:lpstr>
      <vt:lpstr>EVIDENCIA DEL EMPRENDIMIENTO</vt:lpstr>
      <vt:lpstr>Relación con el perfil de egreso</vt:lpstr>
      <vt:lpstr>Relación con Perfil</vt:lpstr>
      <vt:lpstr>Factibilidad del proyecto en la asignatura</vt:lpstr>
      <vt:lpstr>Factibilidad del Proyecto</vt:lpstr>
      <vt:lpstr>Objetivos del proyecto</vt:lpstr>
      <vt:lpstr>Objetivos del Proyecto</vt:lpstr>
      <vt:lpstr>Metodología de trabajo</vt:lpstr>
      <vt:lpstr>Metodologías del Proyecto SCRUM</vt:lpstr>
      <vt:lpstr>Plan de trabajo</vt:lpstr>
      <vt:lpstr>Plan del Proyecto</vt:lpstr>
      <vt:lpstr>Evidencias esperadas</vt:lpstr>
      <vt:lpstr>Evidencias Esperadas del Proyecto</vt:lpstr>
      <vt:lpstr> 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</dc:title>
  <dc:creator>Victor Rodrigo Galaz Silva</dc:creator>
  <cp:lastModifiedBy>Diego Delgado Unquen</cp:lastModifiedBy>
  <cp:revision>344</cp:revision>
  <dcterms:created xsi:type="dcterms:W3CDTF">2020-01-19T17:40:32Z</dcterms:created>
  <dcterms:modified xsi:type="dcterms:W3CDTF">2026-09-02T17:36:19Z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